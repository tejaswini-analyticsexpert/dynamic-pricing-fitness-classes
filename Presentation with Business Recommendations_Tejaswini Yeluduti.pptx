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2" r:id="rId6"/>
    <p:sldId id="282" r:id="rId7"/>
    <p:sldId id="283" r:id="rId8"/>
    <p:sldId id="284" r:id="rId9"/>
    <p:sldId id="286" r:id="rId10"/>
    <p:sldId id="285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Welcome" id="{3374D542-6E3E-455F-9BFB-B45891911720}">
          <p14:sldIdLst>
            <p14:sldId id="256"/>
            <p14:sldId id="257"/>
            <p14:sldId id="258"/>
            <p14:sldId id="259"/>
            <p14:sldId id="262"/>
            <p14:sldId id="282"/>
            <p14:sldId id="283"/>
            <p14:sldId id="284"/>
            <p14:sldId id="286"/>
            <p14:sldId id="285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5F5F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16" autoAdjust="0"/>
    <p:restoredTop sz="94598" autoAdjust="0"/>
  </p:normalViewPr>
  <p:slideViewPr>
    <p:cSldViewPr snapToGrid="0">
      <p:cViewPr>
        <p:scale>
          <a:sx n="50" d="100"/>
          <a:sy n="50" d="100"/>
        </p:scale>
        <p:origin x="1939" y="7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4C3FCC2-4E7A-4671-AA79-177CB194E449}" type="datetimeFigureOut">
              <a:rPr lang="en-US" smtClean="0"/>
              <a:t>5/9/2026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A01C38D-F26D-4167-83EF-8774BC62D5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605061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F61EA0F-A667-4B49-8422-0062BC55E249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754570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33238323-0ADF-4328-9564-AEB5DFD80DB6}"/>
              </a:ext>
            </a:extLst>
          </p:cNvPr>
          <p:cNvSpPr/>
          <p:nvPr userDrawn="1"/>
        </p:nvSpPr>
        <p:spPr bwMode="blackWhite">
          <a:xfrm>
            <a:off x="254950" y="262784"/>
            <a:ext cx="11682101" cy="6332433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B776FAE-C8F8-44A1-8BC7-9EB94837145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333500"/>
            <a:ext cx="9144000" cy="1790700"/>
          </a:xfrm>
        </p:spPr>
        <p:txBody>
          <a:bodyPr vert="horz" lIns="91440" tIns="0" rIns="91440" bIns="0" rtlCol="0" anchor="t" anchorCtr="0">
            <a:noAutofit/>
          </a:bodyPr>
          <a:lstStyle>
            <a:lvl1pPr>
              <a:lnSpc>
                <a:spcPct val="100000"/>
              </a:lnSpc>
              <a:defRPr lang="en-US" sz="4800" dirty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A7900C6-1C2C-4612-8672-356C6DDFDCB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128009"/>
            <a:ext cx="9144000" cy="1287675"/>
          </a:xfrm>
        </p:spPr>
        <p:txBody>
          <a:bodyPr vert="horz" lIns="91440" tIns="45720" rIns="91440" bIns="45720" rtlCol="0" anchor="t" anchorCtr="0">
            <a:noAutofit/>
          </a:bodyPr>
          <a:lstStyle>
            <a:lvl1pPr marL="0" indent="0">
              <a:buNone/>
              <a:defRPr lang="en-US" sz="2400" dirty="0">
                <a:solidFill>
                  <a:schemeClr val="bg1"/>
                </a:solidFill>
                <a:latin typeface="+mj-lt"/>
              </a:defRPr>
            </a:lvl1pPr>
          </a:lstStyle>
          <a:p>
            <a:pPr marL="228600" lvl="0" indent="-228600">
              <a:lnSpc>
                <a:spcPct val="150000"/>
              </a:lnSpc>
              <a:spcAft>
                <a:spcPts val="1200"/>
              </a:spcAft>
            </a:pPr>
            <a:r>
              <a:rPr lang="en-US"/>
              <a:t>Click to edit Master subtitle style</a:t>
            </a:r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5274E620-B44E-41FF-8FA1-D955BD69C0B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48" r="13926" b="71478"/>
          <a:stretch/>
        </p:blipFill>
        <p:spPr>
          <a:xfrm>
            <a:off x="342899" y="4546601"/>
            <a:ext cx="11715751" cy="2025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11464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345A2570-7517-4576-B836-E4E6D3E743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3"/>
          <a:stretch/>
        </p:blipFill>
        <p:spPr>
          <a:xfrm>
            <a:off x="269032" y="4801396"/>
            <a:ext cx="11653936" cy="1786228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59B673-4507-4B72-871E-0018907875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4433" y="1604211"/>
            <a:ext cx="10983131" cy="4572752"/>
          </a:xfrm>
        </p:spPr>
        <p:txBody>
          <a:bodyPr/>
          <a:lstStyle>
            <a:lvl1pPr marL="0" indent="0">
              <a:spcAft>
                <a:spcPts val="1200"/>
              </a:spcAft>
              <a:buSzPct val="25000"/>
              <a:buFont typeface="Segoe UI" panose="020B0502040204020203" pitchFamily="34" charset="0"/>
              <a:buChar char=" "/>
              <a:defRPr sz="1200"/>
            </a:lvl1pPr>
            <a:lvl2pPr marL="401638" indent="7938">
              <a:spcBef>
                <a:spcPts val="600"/>
              </a:spcBef>
              <a:spcAft>
                <a:spcPts val="1200"/>
              </a:spcAft>
              <a:buFont typeface="Segoe UI" panose="020B0502040204020203" pitchFamily="34" charset="0"/>
              <a:buChar char=" "/>
              <a:defRPr sz="1200"/>
            </a:lvl2pPr>
            <a:lvl3pPr marL="1143000" indent="-228600">
              <a:buFont typeface="Segoe UI" panose="020B0502040204020203" pitchFamily="34" charset="0"/>
              <a:buChar char=" "/>
              <a:defRPr/>
            </a:lvl3pPr>
            <a:lvl4pPr marL="1600200" indent="-228600">
              <a:buFont typeface="Segoe UI" panose="020B0502040204020203" pitchFamily="34" charset="0"/>
              <a:buChar char=" "/>
              <a:defRPr/>
            </a:lvl4pPr>
            <a:lvl5pPr marL="2057400" indent="-228600">
              <a:buFont typeface="Segoe UI" panose="020B0502040204020203" pitchFamily="34" charset="0"/>
              <a:buChar char=" "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FB8AB91F-D739-4DD5-859B-B16B125BEC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7103406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345A2570-7517-4576-B836-E4E6D3E743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3"/>
          <a:stretch/>
        </p:blipFill>
        <p:spPr>
          <a:xfrm>
            <a:off x="269032" y="4801396"/>
            <a:ext cx="11653936" cy="1786228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59B673-4507-4B72-871E-0018907875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4433" y="1604211"/>
            <a:ext cx="10983131" cy="4572752"/>
          </a:xfrm>
        </p:spPr>
        <p:txBody>
          <a:bodyPr/>
          <a:lstStyle>
            <a:lvl1pPr marL="0" indent="0">
              <a:spcAft>
                <a:spcPts val="1200"/>
              </a:spcAft>
              <a:buSzPct val="25000"/>
              <a:buFont typeface="Segoe UI" panose="020B0502040204020203" pitchFamily="34" charset="0"/>
              <a:buChar char=" "/>
              <a:defRPr sz="1200"/>
            </a:lvl1pPr>
            <a:lvl2pPr marL="401638" indent="7938">
              <a:spcBef>
                <a:spcPts val="600"/>
              </a:spcBef>
              <a:spcAft>
                <a:spcPts val="1200"/>
              </a:spcAft>
              <a:buFont typeface="Segoe UI" panose="020B0502040204020203" pitchFamily="34" charset="0"/>
              <a:buChar char=" "/>
              <a:defRPr sz="1200"/>
            </a:lvl2pPr>
            <a:lvl3pPr marL="1143000" indent="-228600">
              <a:buFont typeface="Segoe UI" panose="020B0502040204020203" pitchFamily="34" charset="0"/>
              <a:buChar char=" "/>
              <a:defRPr/>
            </a:lvl3pPr>
            <a:lvl4pPr marL="1600200" indent="-228600">
              <a:buFont typeface="Segoe UI" panose="020B0502040204020203" pitchFamily="34" charset="0"/>
              <a:buChar char=" "/>
              <a:defRPr/>
            </a:lvl4pPr>
            <a:lvl5pPr marL="2057400" indent="-228600">
              <a:buFont typeface="Segoe UI" panose="020B0502040204020203" pitchFamily="34" charset="0"/>
              <a:buChar char=" "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0E770BB0-A521-41C6-A0AE-BEE679D2AD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404657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5F89203F-46EF-44A2-956A-7FF6AF93BE7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3"/>
          <a:stretch/>
        </p:blipFill>
        <p:spPr>
          <a:xfrm>
            <a:off x="269032" y="4801396"/>
            <a:ext cx="11653936" cy="1786228"/>
          </a:xfrm>
          <a:prstGeom prst="rect">
            <a:avLst/>
          </a:prstGeom>
        </p:spPr>
      </p:pic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D1D47175-944E-463B-ABBB-06669A4739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0862" y="1507068"/>
            <a:ext cx="3192379" cy="4669896"/>
          </a:xfrm>
        </p:spPr>
        <p:txBody>
          <a:bodyPr anchor="ctr"/>
          <a:lstStyle>
            <a:lvl1pPr marL="0" indent="0" algn="l">
              <a:lnSpc>
                <a:spcPct val="150000"/>
              </a:lnSpc>
              <a:spcAft>
                <a:spcPts val="1200"/>
              </a:spcAft>
              <a:buSzPct val="25000"/>
              <a:buFont typeface="Segoe UI" panose="020B0502040204020203" pitchFamily="34" charset="0"/>
              <a:buChar char=" "/>
              <a:defRPr sz="1200"/>
            </a:lvl1pPr>
            <a:lvl2pPr marL="401638" indent="7938" algn="l">
              <a:spcBef>
                <a:spcPts val="600"/>
              </a:spcBef>
              <a:spcAft>
                <a:spcPts val="1200"/>
              </a:spcAft>
              <a:buFont typeface="Segoe UI" panose="020B0502040204020203" pitchFamily="34" charset="0"/>
              <a:buChar char=" "/>
              <a:defRPr sz="1200"/>
            </a:lvl2pPr>
            <a:lvl3pPr marL="1143000" indent="-228600">
              <a:buFont typeface="Segoe UI" panose="020B0502040204020203" pitchFamily="34" charset="0"/>
              <a:buChar char=" "/>
              <a:defRPr/>
            </a:lvl3pPr>
            <a:lvl4pPr marL="1600200" indent="-228600">
              <a:buFont typeface="Segoe UI" panose="020B0502040204020203" pitchFamily="34" charset="0"/>
              <a:buChar char=" "/>
              <a:defRPr/>
            </a:lvl4pPr>
            <a:lvl5pPr marL="2057400" indent="-228600">
              <a:buFont typeface="Segoe UI" panose="020B0502040204020203" pitchFamily="34" charset="0"/>
              <a:buChar char=" "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A40725B0-0DB7-41CE-9C4C-39E8D0F6325E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4395537" y="1507068"/>
            <a:ext cx="7143905" cy="4669896"/>
          </a:xfrm>
        </p:spPr>
        <p:txBody>
          <a:bodyPr anchor="ctr"/>
          <a:lstStyle>
            <a:lvl1pPr marL="0" indent="0">
              <a:spcAft>
                <a:spcPts val="1200"/>
              </a:spcAft>
              <a:buSzPct val="25000"/>
              <a:buFont typeface="Segoe UI" panose="020B0502040204020203" pitchFamily="34" charset="0"/>
              <a:buChar char=" "/>
              <a:defRPr sz="1200"/>
            </a:lvl1pPr>
            <a:lvl2pPr marL="401638" indent="7938">
              <a:spcBef>
                <a:spcPts val="600"/>
              </a:spcBef>
              <a:spcAft>
                <a:spcPts val="1200"/>
              </a:spcAft>
              <a:buFont typeface="Segoe UI" panose="020B0502040204020203" pitchFamily="34" charset="0"/>
              <a:buChar char=" "/>
              <a:defRPr sz="1200"/>
            </a:lvl2pPr>
            <a:lvl3pPr marL="1143000" indent="-228600">
              <a:buFont typeface="Segoe UI" panose="020B0502040204020203" pitchFamily="34" charset="0"/>
              <a:buChar char=" "/>
              <a:defRPr/>
            </a:lvl3pPr>
            <a:lvl4pPr marL="1600200" indent="-228600">
              <a:buFont typeface="Segoe UI" panose="020B0502040204020203" pitchFamily="34" charset="0"/>
              <a:buChar char=" "/>
              <a:defRPr/>
            </a:lvl4pPr>
            <a:lvl5pPr marL="2057400" indent="-228600">
              <a:buFont typeface="Segoe UI" panose="020B0502040204020203" pitchFamily="34" charset="0"/>
              <a:buChar char=" "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1" name="Title 10">
            <a:extLst>
              <a:ext uri="{FF2B5EF4-FFF2-40B4-BE49-F238E27FC236}">
                <a16:creationId xmlns:a16="http://schemas.microsoft.com/office/drawing/2014/main" id="{F9E63483-559C-4A6F-B04F-D6C56A3CC0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0494445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 userDrawn="1"/>
        </p:nvSpPr>
        <p:spPr>
          <a:xfrm>
            <a:off x="254951" y="262784"/>
            <a:ext cx="11683049" cy="6332433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0" name="Rectangle 9"/>
          <p:cNvSpPr/>
          <p:nvPr userDrawn="1"/>
        </p:nvSpPr>
        <p:spPr bwMode="blackWhite">
          <a:xfrm>
            <a:off x="254950" y="262784"/>
            <a:ext cx="11682101" cy="2072643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1208" y="1536192"/>
            <a:ext cx="6876288" cy="640080"/>
          </a:xfrm>
        </p:spPr>
        <p:txBody>
          <a:bodyPr>
            <a:normAutofit/>
          </a:bodyPr>
          <a:lstStyle>
            <a:lvl1pPr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/>
          <p:cNvSpPr>
            <a:spLocks noGrp="1"/>
          </p:cNvSpPr>
          <p:nvPr>
            <p:ph sz="quarter" idx="13"/>
          </p:nvPr>
        </p:nvSpPr>
        <p:spPr>
          <a:xfrm>
            <a:off x="539496" y="2560320"/>
            <a:ext cx="9445752" cy="397764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sz="240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defRPr>
            </a:lvl1pPr>
            <a:lvl2pPr>
              <a:defRPr 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lang="en-US" sz="1200" dirty="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marL="0" lvl="0" indent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en-US"/>
              <a:t>Click to edit Master text styles</a:t>
            </a:r>
          </a:p>
          <a:p>
            <a:pPr marL="0" lvl="1" indent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en-US"/>
              <a:t>Second level</a:t>
            </a:r>
          </a:p>
          <a:p>
            <a:pPr marL="0" lvl="2" indent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en-US"/>
              <a:t>Third level</a:t>
            </a:r>
          </a:p>
          <a:p>
            <a:pPr marL="0" lvl="3" indent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en-US"/>
              <a:t>Fourth level</a:t>
            </a:r>
          </a:p>
          <a:p>
            <a:pPr marL="0" lvl="4" indent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978284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 userDrawn="1"/>
        </p:nvSpPr>
        <p:spPr>
          <a:xfrm>
            <a:off x="256032" y="265176"/>
            <a:ext cx="11683049" cy="6332433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 anchorCtr="0"/>
          <a:lstStyle/>
          <a:p>
            <a:pPr algn="ctr"/>
            <a:endParaRPr lang="en-US" sz="1800" dirty="0"/>
          </a:p>
        </p:txBody>
      </p:sp>
      <p:cxnSp>
        <p:nvCxnSpPr>
          <p:cNvPr id="12" name="Straight Connector 11"/>
          <p:cNvCxnSpPr/>
          <p:nvPr userDrawn="1"/>
        </p:nvCxnSpPr>
        <p:spPr>
          <a:xfrm>
            <a:off x="604434" y="1196392"/>
            <a:ext cx="10983132" cy="0"/>
          </a:xfrm>
          <a:prstGeom prst="line">
            <a:avLst/>
          </a:prstGeom>
          <a:ln w="25400">
            <a:solidFill>
              <a:srgbClr val="D2472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itle 3">
            <a:extLst>
              <a:ext uri="{FF2B5EF4-FFF2-40B4-BE49-F238E27FC236}">
                <a16:creationId xmlns:a16="http://schemas.microsoft.com/office/drawing/2014/main" id="{0017C897-2775-4930-B0BE-BEB7245323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1481589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nd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 userDrawn="1"/>
        </p:nvSpPr>
        <p:spPr>
          <a:xfrm>
            <a:off x="256032" y="265176"/>
            <a:ext cx="11683049" cy="6332433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 anchorCtr="0"/>
          <a:lstStyle/>
          <a:p>
            <a:pPr algn="ctr"/>
            <a:endParaRPr lang="en-US" sz="1800" dirty="0"/>
          </a:p>
        </p:txBody>
      </p:sp>
      <p:cxnSp>
        <p:nvCxnSpPr>
          <p:cNvPr id="12" name="Straight Connector 11"/>
          <p:cNvCxnSpPr/>
          <p:nvPr userDrawn="1"/>
        </p:nvCxnSpPr>
        <p:spPr>
          <a:xfrm>
            <a:off x="604434" y="1196392"/>
            <a:ext cx="10983132" cy="0"/>
          </a:xfrm>
          <a:prstGeom prst="line">
            <a:avLst/>
          </a:prstGeom>
          <a:ln w="25400">
            <a:solidFill>
              <a:srgbClr val="D2472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>
            <a:extLst>
              <a:ext uri="{FF2B5EF4-FFF2-40B4-BE49-F238E27FC236}">
                <a16:creationId xmlns:a16="http://schemas.microsoft.com/office/drawing/2014/main" id="{D258610D-0376-4D1E-8ED8-29382288BB0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41783" t="-3"/>
          <a:stretch/>
        </p:blipFill>
        <p:spPr>
          <a:xfrm>
            <a:off x="269032" y="4801396"/>
            <a:ext cx="11653936" cy="1786228"/>
          </a:xfrm>
          <a:prstGeom prst="rect">
            <a:avLst/>
          </a:prstGeo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21C16CD2-606C-441E-BBA3-51767980CC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9935017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766754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CD5FD28E-AEC9-43B8-86F4-9CD3C41D49D7}"/>
              </a:ext>
            </a:extLst>
          </p:cNvPr>
          <p:cNvSpPr/>
          <p:nvPr userDrawn="1"/>
        </p:nvSpPr>
        <p:spPr>
          <a:xfrm>
            <a:off x="256032" y="265176"/>
            <a:ext cx="11683049" cy="6332433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 anchorCtr="0"/>
          <a:lstStyle/>
          <a:p>
            <a:pPr algn="ctr"/>
            <a:endParaRPr lang="en-US" sz="1800" dirty="0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5AFE014-E3CD-4B9A-A705-F1CADD8F42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4434" y="448628"/>
            <a:ext cx="10983132" cy="747763"/>
          </a:xfrm>
          <a:prstGeom prst="rect">
            <a:avLst/>
          </a:prstGeom>
        </p:spPr>
        <p:txBody>
          <a:bodyPr vert="horz" lIns="91440" tIns="45720" rIns="91440" bIns="45720" rtlCol="0" anchor="ctr" anchorCtr="0">
            <a:normAutofit/>
          </a:bodyPr>
          <a:lstStyle/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ADE5F7-8A52-43AD-8F30-F13CF545061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9DC85AE-A002-4BA3-8D90-3960ED0FF8F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744E560-77BF-4D1A-B6E7-CD55CE12B1B8}" type="datetimeFigureOut">
              <a:rPr lang="en-US" smtClean="0"/>
              <a:t>5/9/2026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103AA5-C732-4ECB-88D6-DAA20E2C1C6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C280433-CBB5-49C5-B032-5A800E5D09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359379A-16E2-4C4A-96D0-A52C442257E7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E32A06DA-7FF5-4DDE-94D0-63A83DB241E8}"/>
              </a:ext>
            </a:extLst>
          </p:cNvPr>
          <p:cNvCxnSpPr/>
          <p:nvPr userDrawn="1"/>
        </p:nvCxnSpPr>
        <p:spPr>
          <a:xfrm>
            <a:off x="604434" y="1196392"/>
            <a:ext cx="10983132" cy="0"/>
          </a:xfrm>
          <a:prstGeom prst="line">
            <a:avLst/>
          </a:prstGeom>
          <a:ln w="25400">
            <a:solidFill>
              <a:srgbClr val="D2472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085140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63" r:id="rId3"/>
    <p:sldLayoutId id="2147483652" r:id="rId4"/>
    <p:sldLayoutId id="2147483660" r:id="rId5"/>
    <p:sldLayoutId id="2147483662" r:id="rId6"/>
    <p:sldLayoutId id="2147483661" r:id="rId7"/>
    <p:sldLayoutId id="2147483655" r:id="rId8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lang="en-US" sz="2800" kern="1200">
          <a:solidFill>
            <a:schemeClr val="bg2">
              <a:lumMod val="25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EF8D61-9318-4DC8-A868-2B1BFDD2B2C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/>
              <a:t>Dynamic Pricing &amp; Demand Forecasting for Fitness Classes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C322DE6-C2BE-4B53-BC28-C43EBD0052A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GB" dirty="0"/>
              <a:t>Revenue Optimization Using Data Analytics</a:t>
            </a:r>
            <a:endParaRPr lang="en-US" dirty="0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566FA85D-3B0A-4E0C-B8AC-042993910A93}"/>
              </a:ext>
            </a:extLst>
          </p:cNvPr>
          <p:cNvSpPr txBox="1">
            <a:spLocks/>
          </p:cNvSpPr>
          <p:nvPr/>
        </p:nvSpPr>
        <p:spPr>
          <a:xfrm>
            <a:off x="7812124" y="4780547"/>
            <a:ext cx="3497560" cy="743953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600" kern="1200">
                <a:solidFill>
                  <a:srgbClr val="408E93"/>
                </a:solidFill>
                <a:latin typeface="Agency FB" panose="020B0503020202020204" pitchFamily="34" charset="0"/>
                <a:ea typeface="+mj-ea"/>
                <a:cs typeface="Segoe UI Light" panose="020B0502040204020203" pitchFamily="34" charset="0"/>
              </a:defRPr>
            </a:lvl1pPr>
          </a:lstStyle>
          <a:p>
            <a:pPr>
              <a:spcBef>
                <a:spcPts val="1000"/>
              </a:spcBef>
            </a:pPr>
            <a:r>
              <a:rPr lang="en-US" sz="2800" dirty="0">
                <a:solidFill>
                  <a:schemeClr val="bg1"/>
                </a:solidFill>
                <a:latin typeface="+mj-lt"/>
                <a:ea typeface="+mn-ea"/>
                <a:cs typeface="+mn-cs"/>
              </a:rPr>
              <a:t>By: Tejaswini </a:t>
            </a:r>
            <a:r>
              <a:rPr lang="en-US" sz="2800" dirty="0" err="1">
                <a:solidFill>
                  <a:schemeClr val="bg1"/>
                </a:solidFill>
                <a:latin typeface="+mj-lt"/>
                <a:ea typeface="+mn-ea"/>
                <a:cs typeface="+mn-cs"/>
              </a:rPr>
              <a:t>Yeluduti</a:t>
            </a:r>
            <a:endParaRPr lang="en-US" sz="2800" dirty="0">
              <a:solidFill>
                <a:schemeClr val="bg1"/>
              </a:solidFill>
              <a:latin typeface="+mj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9758032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31795B-A93A-416C-8052-FAF4D9073E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Project Overview &amp; Business Problem</a:t>
            </a:r>
          </a:p>
        </p:txBody>
      </p:sp>
      <p:sp>
        <p:nvSpPr>
          <p:cNvPr id="4" name="Text Placeholder 5" descr="2D Slides">
            <a:extLst>
              <a:ext uri="{FF2B5EF4-FFF2-40B4-BE49-F238E27FC236}">
                <a16:creationId xmlns:a16="http://schemas.microsoft.com/office/drawing/2014/main" id="{5D483DB7-3925-4129-9AB3-FF75028415D3}"/>
              </a:ext>
            </a:extLst>
          </p:cNvPr>
          <p:cNvSpPr txBox="1">
            <a:spLocks/>
          </p:cNvSpPr>
          <p:nvPr/>
        </p:nvSpPr>
        <p:spPr>
          <a:xfrm>
            <a:off x="113036" y="1586513"/>
            <a:ext cx="2438400" cy="22901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2000" dirty="0">
                <a:latin typeface="+mj-lt"/>
                <a:ea typeface="+mj-ea"/>
                <a:cs typeface="+mj-cs"/>
              </a:rPr>
              <a:t>Objective</a:t>
            </a:r>
          </a:p>
        </p:txBody>
      </p:sp>
      <p:sp>
        <p:nvSpPr>
          <p:cNvPr id="5" name="TextBox 2D 1">
            <a:extLst>
              <a:ext uri="{FF2B5EF4-FFF2-40B4-BE49-F238E27FC236}">
                <a16:creationId xmlns:a16="http://schemas.microsoft.com/office/drawing/2014/main" id="{CAA61E68-C8F4-4610-BC1E-4D08000B9C76}"/>
              </a:ext>
            </a:extLst>
          </p:cNvPr>
          <p:cNvSpPr txBox="1"/>
          <p:nvPr/>
        </p:nvSpPr>
        <p:spPr>
          <a:xfrm>
            <a:off x="1161857" y="1815531"/>
            <a:ext cx="7099828" cy="22567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Develop a data-driven pricing strategy using:</a:t>
            </a:r>
          </a:p>
          <a:p>
            <a:endParaRPr lang="en-GB" dirty="0"/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GB" dirty="0"/>
              <a:t>Booking Trend Analysis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GB" dirty="0"/>
              <a:t>Demand Forecasting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GB" dirty="0"/>
              <a:t>Price Elasticity Analysis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GB" dirty="0"/>
              <a:t>Dynamic Pricing Algorithms</a:t>
            </a:r>
          </a:p>
        </p:txBody>
      </p:sp>
      <p:pic>
        <p:nvPicPr>
          <p:cNvPr id="3" name="Grid" descr="grid plane">
            <a:extLst>
              <a:ext uri="{FF2B5EF4-FFF2-40B4-BE49-F238E27FC236}">
                <a16:creationId xmlns:a16="http://schemas.microsoft.com/office/drawing/2014/main" id="{71F5A0B2-7584-4034-8919-A5F2C482F463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307" r="-943" b="-1096"/>
          <a:stretch/>
        </p:blipFill>
        <p:spPr>
          <a:xfrm>
            <a:off x="5827143" y="2570364"/>
            <a:ext cx="5896604" cy="3030452"/>
          </a:xfrm>
          <a:prstGeom prst="rect">
            <a:avLst/>
          </a:prstGeom>
        </p:spPr>
      </p:pic>
      <p:sp>
        <p:nvSpPr>
          <p:cNvPr id="33" name="Text Placeholder 5" descr="2D Slides">
            <a:extLst>
              <a:ext uri="{FF2B5EF4-FFF2-40B4-BE49-F238E27FC236}">
                <a16:creationId xmlns:a16="http://schemas.microsoft.com/office/drawing/2014/main" id="{B96D17FF-8E41-4856-7140-3182DA0C8700}"/>
              </a:ext>
            </a:extLst>
          </p:cNvPr>
          <p:cNvSpPr txBox="1">
            <a:spLocks/>
          </p:cNvSpPr>
          <p:nvPr/>
        </p:nvSpPr>
        <p:spPr>
          <a:xfrm>
            <a:off x="59930" y="4233425"/>
            <a:ext cx="3180938" cy="457954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IN" sz="1800" dirty="0"/>
              <a:t>Business Challenges</a:t>
            </a:r>
            <a:endParaRPr lang="en-US" dirty="0">
              <a:latin typeface="+mj-lt"/>
              <a:ea typeface="+mj-ea"/>
              <a:cs typeface="+mj-cs"/>
            </a:endParaRPr>
          </a:p>
        </p:txBody>
      </p:sp>
      <p:sp>
        <p:nvSpPr>
          <p:cNvPr id="36" name="TextBox 2D 1">
            <a:extLst>
              <a:ext uri="{FF2B5EF4-FFF2-40B4-BE49-F238E27FC236}">
                <a16:creationId xmlns:a16="http://schemas.microsoft.com/office/drawing/2014/main" id="{82469011-D7A7-233A-E5BE-9AC088225C9E}"/>
              </a:ext>
            </a:extLst>
          </p:cNvPr>
          <p:cNvSpPr txBox="1"/>
          <p:nvPr/>
        </p:nvSpPr>
        <p:spPr>
          <a:xfrm>
            <a:off x="1161857" y="4826675"/>
            <a:ext cx="7099828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lang="en-US" altLang="en-US" dirty="0"/>
              <a:t>Static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Pricing </a:t>
            </a:r>
            <a:r>
              <a:rPr lang="en-US" altLang="en-US" dirty="0"/>
              <a:t>Models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Fluctuating </a:t>
            </a:r>
            <a:r>
              <a:rPr lang="en-US" altLang="en-US" dirty="0"/>
              <a:t>Booking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Demand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Underutilized Class Capacity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Missed Revenue Opportunities </a:t>
            </a:r>
          </a:p>
          <a:p>
            <a:pPr marL="342900" indent="-342900">
              <a:buFont typeface="+mj-lt"/>
              <a:buAutoNum type="arabicPeriod"/>
            </a:pP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85510815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E7273F9-59F9-4FB3-9D34-82C64C4F86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4434" y="448628"/>
            <a:ext cx="10983132" cy="747763"/>
          </a:xfrm>
        </p:spPr>
        <p:txBody>
          <a:bodyPr/>
          <a:lstStyle/>
          <a:p>
            <a:r>
              <a:rPr lang="en-IN" dirty="0"/>
              <a:t>Data Cleaning &amp; Preparation</a:t>
            </a:r>
            <a:endParaRPr lang="en-US" dirty="0"/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95AB49E1-195D-497A-BB31-2158958CA08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80799" y="1752223"/>
            <a:ext cx="5587917" cy="4283996"/>
          </a:xfrm>
        </p:spPr>
        <p:txBody>
          <a:bodyPr>
            <a:normAutofit fontScale="92500" lnSpcReduction="20000"/>
          </a:bodyPr>
          <a:lstStyle/>
          <a:p>
            <a:r>
              <a:rPr lang="en-GB" sz="2200" b="1" dirty="0"/>
              <a:t>Activities Performed:</a:t>
            </a:r>
          </a:p>
          <a:p>
            <a:pPr marL="342900" indent="-342900">
              <a:buFont typeface="+mj-lt"/>
              <a:buAutoNum type="arabicPeriod"/>
            </a:pPr>
            <a:r>
              <a:rPr lang="en-GB" sz="1800" dirty="0"/>
              <a:t>Merged datasets</a:t>
            </a:r>
          </a:p>
          <a:p>
            <a:pPr marL="342900" indent="-342900">
              <a:lnSpc>
                <a:spcPct val="160000"/>
              </a:lnSpc>
              <a:buFont typeface="+mj-lt"/>
              <a:buAutoNum type="arabicPeriod"/>
            </a:pPr>
            <a:r>
              <a:rPr lang="en-GB" sz="1800" dirty="0"/>
              <a:t>Handled Missing Values</a:t>
            </a:r>
          </a:p>
          <a:p>
            <a:pPr marL="342900" indent="-342900">
              <a:lnSpc>
                <a:spcPct val="160000"/>
              </a:lnSpc>
              <a:buFont typeface="+mj-lt"/>
              <a:buAutoNum type="arabicPeriod"/>
            </a:pPr>
            <a:r>
              <a:rPr lang="en-GB" sz="1800" dirty="0"/>
              <a:t>Removed Duplicates</a:t>
            </a:r>
          </a:p>
          <a:p>
            <a:pPr marL="342900" indent="-342900">
              <a:lnSpc>
                <a:spcPct val="160000"/>
              </a:lnSpc>
              <a:buFont typeface="+mj-lt"/>
              <a:buAutoNum type="arabicPeriod"/>
            </a:pPr>
            <a:r>
              <a:rPr lang="en-GB" sz="1800" dirty="0"/>
              <a:t>Corrected Data Types</a:t>
            </a:r>
          </a:p>
          <a:p>
            <a:pPr marL="342900" indent="-342900">
              <a:lnSpc>
                <a:spcPct val="160000"/>
              </a:lnSpc>
              <a:buFont typeface="+mj-lt"/>
              <a:buAutoNum type="arabicPeriod"/>
            </a:pPr>
            <a:r>
              <a:rPr lang="en-GB" sz="1800" dirty="0"/>
              <a:t>Standardized Datetime Formats</a:t>
            </a:r>
          </a:p>
          <a:p>
            <a:pPr marL="342900" indent="-342900">
              <a:lnSpc>
                <a:spcPct val="160000"/>
              </a:lnSpc>
              <a:buFont typeface="+mj-lt"/>
              <a:buAutoNum type="arabicPeriod"/>
            </a:pPr>
            <a:r>
              <a:rPr lang="en-GB" sz="1800" dirty="0"/>
              <a:t>Created Date Features</a:t>
            </a:r>
          </a:p>
        </p:txBody>
      </p:sp>
    </p:spTree>
    <p:extLst>
      <p:ext uri="{BB962C8B-B14F-4D97-AF65-F5344CB8AC3E}">
        <p14:creationId xmlns:p14="http://schemas.microsoft.com/office/powerpoint/2010/main" val="22516380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F083D2B2-24CC-41A1-8AC3-EDF2DA2C3A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Exploratory Data Analysis (EDA)</a:t>
            </a:r>
            <a:endParaRPr lang="en-US" dirty="0"/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0E85CDB0-AD30-4DBB-AC55-D824F09CE20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7951" y="1544382"/>
            <a:ext cx="4712634" cy="4805161"/>
          </a:xfrm>
        </p:spPr>
        <p:txBody>
          <a:bodyPr>
            <a:normAutofit/>
          </a:bodyPr>
          <a:lstStyle/>
          <a:p>
            <a:r>
              <a:rPr lang="en-GB" sz="1800" b="1" dirty="0"/>
              <a:t>Key Findings</a:t>
            </a:r>
          </a:p>
          <a:p>
            <a:pPr marL="228600" indent="-228600">
              <a:buFont typeface="Arial" panose="020B0604020202020204" pitchFamily="34" charset="0"/>
              <a:buChar char="•"/>
            </a:pPr>
            <a:r>
              <a:rPr lang="en-GB" sz="1800" dirty="0"/>
              <a:t>Demand Varied Across Days And Months</a:t>
            </a:r>
          </a:p>
          <a:p>
            <a:pPr marL="228600" indent="-228600">
              <a:buFont typeface="Arial" panose="020B0604020202020204" pitchFamily="34" charset="0"/>
              <a:buChar char="•"/>
            </a:pPr>
            <a:r>
              <a:rPr lang="en-GB" sz="1800" dirty="0"/>
              <a:t>Certain Classes Consistently Generated High Bookings</a:t>
            </a:r>
          </a:p>
          <a:p>
            <a:pPr marL="228600" indent="-228600">
              <a:buFont typeface="Arial" panose="020B0604020202020204" pitchFamily="34" charset="0"/>
              <a:buChar char="•"/>
            </a:pPr>
            <a:r>
              <a:rPr lang="en-GB" sz="1800" dirty="0"/>
              <a:t>Occupancy Patterns Varied By Session Timing</a:t>
            </a:r>
          </a:p>
          <a:p>
            <a:pPr marL="228600" indent="-228600">
              <a:buFont typeface="Arial" panose="020B0604020202020204" pitchFamily="34" charset="0"/>
              <a:buChar char="•"/>
            </a:pPr>
            <a:r>
              <a:rPr lang="en-GB" sz="1800" dirty="0"/>
              <a:t>Seasonal Trends Were Identified</a:t>
            </a:r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6DED2728-73CD-E74E-BBA9-E2614B93FF3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22231" y="1736887"/>
            <a:ext cx="5855367" cy="38297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9743905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Step 1" descr="Small circle with number 1 inside indicating step 1">
            <a:extLst>
              <a:ext uri="{FF2B5EF4-FFF2-40B4-BE49-F238E27FC236}">
                <a16:creationId xmlns:a16="http://schemas.microsoft.com/office/drawing/2014/main" id="{A98CACC9-95AD-4FA9-B112-2614409B3034}"/>
              </a:ext>
            </a:extLst>
          </p:cNvPr>
          <p:cNvGrpSpPr/>
          <p:nvPr/>
        </p:nvGrpSpPr>
        <p:grpSpPr bwMode="blackWhite">
          <a:xfrm>
            <a:off x="396567" y="4608030"/>
            <a:ext cx="558179" cy="409838"/>
            <a:chOff x="6953426" y="711274"/>
            <a:chExt cx="558179" cy="409838"/>
          </a:xfrm>
        </p:grpSpPr>
        <p:sp>
          <p:nvSpPr>
            <p:cNvPr id="5" name="Oval 4" descr="Small circle">
              <a:extLst>
                <a:ext uri="{FF2B5EF4-FFF2-40B4-BE49-F238E27FC236}">
                  <a16:creationId xmlns:a16="http://schemas.microsoft.com/office/drawing/2014/main" id="{85E15BFF-C7BD-48F1-ADAD-806664D31D05}"/>
                </a:ext>
              </a:extLst>
            </p:cNvPr>
            <p:cNvSpPr/>
            <p:nvPr/>
          </p:nvSpPr>
          <p:spPr bwMode="blackWhite">
            <a:xfrm>
              <a:off x="7025069" y="711274"/>
              <a:ext cx="409838" cy="409838"/>
            </a:xfrm>
            <a:prstGeom prst="ellipse">
              <a:avLst/>
            </a:prstGeom>
            <a:solidFill>
              <a:srgbClr val="D247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TextBox 5" descr="Number 1">
              <a:extLst>
                <a:ext uri="{FF2B5EF4-FFF2-40B4-BE49-F238E27FC236}">
                  <a16:creationId xmlns:a16="http://schemas.microsoft.com/office/drawing/2014/main" id="{8A35519D-559D-4CEF-9805-8DFBFE16F778}"/>
                </a:ext>
              </a:extLst>
            </p:cNvPr>
            <p:cNvSpPr txBox="1"/>
            <p:nvPr/>
          </p:nvSpPr>
          <p:spPr bwMode="blackWhite">
            <a:xfrm>
              <a:off x="6953426" y="727564"/>
              <a:ext cx="55817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>
                  <a:solidFill>
                    <a:schemeClr val="bg1"/>
                  </a:solidFill>
                  <a:latin typeface="Segoe UI Semibold" panose="020B0702040204020203" pitchFamily="34" charset="0"/>
                  <a:cs typeface="Segoe UI Semibold" panose="020B0702040204020203" pitchFamily="34" charset="0"/>
                </a:rPr>
                <a:t>1</a:t>
              </a:r>
            </a:p>
          </p:txBody>
        </p:sp>
      </p:grpSp>
      <p:grpSp>
        <p:nvGrpSpPr>
          <p:cNvPr id="8" name="Step 2" descr="Small circle with number 2 inside indicating step 2">
            <a:extLst>
              <a:ext uri="{FF2B5EF4-FFF2-40B4-BE49-F238E27FC236}">
                <a16:creationId xmlns:a16="http://schemas.microsoft.com/office/drawing/2014/main" id="{0134A81D-5B1C-4A76-8173-F064585D6D49}"/>
              </a:ext>
            </a:extLst>
          </p:cNvPr>
          <p:cNvGrpSpPr/>
          <p:nvPr/>
        </p:nvGrpSpPr>
        <p:grpSpPr bwMode="blackWhite">
          <a:xfrm>
            <a:off x="4537708" y="4583814"/>
            <a:ext cx="558179" cy="409838"/>
            <a:chOff x="7277201" y="1250938"/>
            <a:chExt cx="558179" cy="409838"/>
          </a:xfrm>
        </p:grpSpPr>
        <p:sp>
          <p:nvSpPr>
            <p:cNvPr id="9" name="Oval 8" descr="Small circle">
              <a:extLst>
                <a:ext uri="{FF2B5EF4-FFF2-40B4-BE49-F238E27FC236}">
                  <a16:creationId xmlns:a16="http://schemas.microsoft.com/office/drawing/2014/main" id="{CE0F87BC-F03F-4D0B-9A96-7530CD918386}"/>
                </a:ext>
              </a:extLst>
            </p:cNvPr>
            <p:cNvSpPr/>
            <p:nvPr/>
          </p:nvSpPr>
          <p:spPr bwMode="blackWhite">
            <a:xfrm>
              <a:off x="7351371" y="1250938"/>
              <a:ext cx="409838" cy="409838"/>
            </a:xfrm>
            <a:prstGeom prst="ellipse">
              <a:avLst/>
            </a:prstGeom>
            <a:solidFill>
              <a:srgbClr val="D247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" name="TextBox 9" descr="Number 2">
              <a:extLst>
                <a:ext uri="{FF2B5EF4-FFF2-40B4-BE49-F238E27FC236}">
                  <a16:creationId xmlns:a16="http://schemas.microsoft.com/office/drawing/2014/main" id="{558F649E-C746-445A-AB92-6DC92B377D12}"/>
                </a:ext>
              </a:extLst>
            </p:cNvPr>
            <p:cNvSpPr txBox="1"/>
            <p:nvPr/>
          </p:nvSpPr>
          <p:spPr bwMode="blackWhite">
            <a:xfrm>
              <a:off x="7277201" y="1275154"/>
              <a:ext cx="55817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>
                  <a:solidFill>
                    <a:schemeClr val="bg1"/>
                  </a:solidFill>
                  <a:latin typeface="Segoe UI Semibold" panose="020B0702040204020203" pitchFamily="34" charset="0"/>
                  <a:cs typeface="Segoe UI Semibold" panose="020B0702040204020203" pitchFamily="34" charset="0"/>
                </a:rPr>
                <a:t>2</a:t>
              </a:r>
            </a:p>
          </p:txBody>
        </p:sp>
      </p:grpSp>
      <p:grpSp>
        <p:nvGrpSpPr>
          <p:cNvPr id="12" name="Step 3" descr="Small circle with number 3 inside  indicating step 3">
            <a:extLst>
              <a:ext uri="{FF2B5EF4-FFF2-40B4-BE49-F238E27FC236}">
                <a16:creationId xmlns:a16="http://schemas.microsoft.com/office/drawing/2014/main" id="{07CF4AF3-D618-49AD-BB03-5E5F7A41C8D9}"/>
              </a:ext>
            </a:extLst>
          </p:cNvPr>
          <p:cNvGrpSpPr/>
          <p:nvPr/>
        </p:nvGrpSpPr>
        <p:grpSpPr bwMode="blackWhite">
          <a:xfrm>
            <a:off x="8550627" y="4624320"/>
            <a:ext cx="558179" cy="415388"/>
            <a:chOff x="6953426" y="711274"/>
            <a:chExt cx="558179" cy="409838"/>
          </a:xfrm>
        </p:grpSpPr>
        <p:sp>
          <p:nvSpPr>
            <p:cNvPr id="13" name="Oval 12" descr="Small circle">
              <a:extLst>
                <a:ext uri="{FF2B5EF4-FFF2-40B4-BE49-F238E27FC236}">
                  <a16:creationId xmlns:a16="http://schemas.microsoft.com/office/drawing/2014/main" id="{BE5E6BE8-4DC5-41CD-9A48-850FCE78556C}"/>
                </a:ext>
              </a:extLst>
            </p:cNvPr>
            <p:cNvSpPr/>
            <p:nvPr/>
          </p:nvSpPr>
          <p:spPr bwMode="blackWhite">
            <a:xfrm>
              <a:off x="7025069" y="711274"/>
              <a:ext cx="409838" cy="409838"/>
            </a:xfrm>
            <a:prstGeom prst="ellipse">
              <a:avLst/>
            </a:prstGeom>
            <a:solidFill>
              <a:srgbClr val="D247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TextBox 13" descr="Number 3">
              <a:extLst>
                <a:ext uri="{FF2B5EF4-FFF2-40B4-BE49-F238E27FC236}">
                  <a16:creationId xmlns:a16="http://schemas.microsoft.com/office/drawing/2014/main" id="{82CA4843-739A-4E67-906B-55C8A5C992C4}"/>
                </a:ext>
              </a:extLst>
            </p:cNvPr>
            <p:cNvSpPr txBox="1"/>
            <p:nvPr/>
          </p:nvSpPr>
          <p:spPr bwMode="blackWhite">
            <a:xfrm>
              <a:off x="6953426" y="727564"/>
              <a:ext cx="55817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>
                  <a:solidFill>
                    <a:schemeClr val="bg1"/>
                  </a:solidFill>
                  <a:latin typeface="Segoe UI Semibold" panose="020B0702040204020203" pitchFamily="34" charset="0"/>
                  <a:cs typeface="Segoe UI Semibold" panose="020B0702040204020203" pitchFamily="34" charset="0"/>
                </a:rPr>
                <a:t>3</a:t>
              </a:r>
            </a:p>
          </p:txBody>
        </p:sp>
      </p:grpSp>
      <p:sp>
        <p:nvSpPr>
          <p:cNvPr id="17" name="Title 16">
            <a:extLst>
              <a:ext uri="{FF2B5EF4-FFF2-40B4-BE49-F238E27FC236}">
                <a16:creationId xmlns:a16="http://schemas.microsoft.com/office/drawing/2014/main" id="{C7AE0721-E6CF-F323-5371-CB6AAB2AF9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Charts</a:t>
            </a:r>
          </a:p>
        </p:txBody>
      </p:sp>
      <p:pic>
        <p:nvPicPr>
          <p:cNvPr id="3076" name="Picture 4">
            <a:extLst>
              <a:ext uri="{FF2B5EF4-FFF2-40B4-BE49-F238E27FC236}">
                <a16:creationId xmlns:a16="http://schemas.microsoft.com/office/drawing/2014/main" id="{2F6ED67B-5362-7136-AF40-A26FA7A29F9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37708" y="1365078"/>
            <a:ext cx="3352989" cy="32024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8" name="Picture 6">
            <a:extLst>
              <a:ext uri="{FF2B5EF4-FFF2-40B4-BE49-F238E27FC236}">
                <a16:creationId xmlns:a16="http://schemas.microsoft.com/office/drawing/2014/main" id="{CB41A822-5833-A4C1-1593-DA8115B3A01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37832" y="1196391"/>
            <a:ext cx="3449734" cy="34033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80" name="Picture 8">
            <a:extLst>
              <a:ext uri="{FF2B5EF4-FFF2-40B4-BE49-F238E27FC236}">
                <a16:creationId xmlns:a16="http://schemas.microsoft.com/office/drawing/2014/main" id="{50427FBA-9648-6C9E-B6DB-559EC9D7117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6567" y="1489702"/>
            <a:ext cx="3863340" cy="28413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44977BE7-FEF9-1F80-72C3-2C8F3509A814}"/>
              </a:ext>
            </a:extLst>
          </p:cNvPr>
          <p:cNvSpPr txBox="1"/>
          <p:nvPr/>
        </p:nvSpPr>
        <p:spPr>
          <a:xfrm>
            <a:off x="1055871" y="4583814"/>
            <a:ext cx="3099094" cy="409838"/>
          </a:xfrm>
          <a:prstGeom prst="rect">
            <a:avLst/>
          </a:prstGeom>
        </p:spPr>
        <p:txBody>
          <a:bodyPr vert="horz" wrap="square" lIns="91440" tIns="45720" rIns="91440" bIns="45720" rtlCol="0">
            <a:noAutofit/>
          </a:bodyPr>
          <a:lstStyle/>
          <a:p>
            <a:pPr marL="0" indent="0" algn="l">
              <a:lnSpc>
                <a:spcPts val="1800"/>
              </a:lnSpc>
              <a:spcAft>
                <a:spcPts val="600"/>
              </a:spcAft>
              <a:buNone/>
            </a:pPr>
            <a:endParaRPr lang="en-IN" sz="1200" dirty="0">
              <a:solidFill>
                <a:prstClr val="black">
                  <a:lumMod val="75000"/>
                  <a:lumOff val="25000"/>
                </a:prst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82F4FE5F-6854-2314-474A-EE51B4997605}"/>
              </a:ext>
            </a:extLst>
          </p:cNvPr>
          <p:cNvSpPr txBox="1"/>
          <p:nvPr/>
        </p:nvSpPr>
        <p:spPr>
          <a:xfrm>
            <a:off x="949691" y="4604067"/>
            <a:ext cx="358296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/>
              <a:t>High-Demand Classes Chart</a:t>
            </a:r>
            <a:endParaRPr lang="en-IN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07271BA8-426C-B76F-F502-523349D5BE15}"/>
              </a:ext>
            </a:extLst>
          </p:cNvPr>
          <p:cNvSpPr txBox="1"/>
          <p:nvPr/>
        </p:nvSpPr>
        <p:spPr>
          <a:xfrm>
            <a:off x="5040129" y="4616000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/>
              <a:t>High-Demand Classes Chart</a:t>
            </a:r>
            <a:endParaRPr lang="en-IN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0C90DF4B-DA0F-E343-ABC0-60545EF7B439}"/>
              </a:ext>
            </a:extLst>
          </p:cNvPr>
          <p:cNvSpPr txBox="1"/>
          <p:nvPr/>
        </p:nvSpPr>
        <p:spPr>
          <a:xfrm>
            <a:off x="9013150" y="4695207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Correlation Heatmap</a:t>
            </a:r>
          </a:p>
        </p:txBody>
      </p:sp>
    </p:spTree>
    <p:extLst>
      <p:ext uri="{BB962C8B-B14F-4D97-AF65-F5344CB8AC3E}">
        <p14:creationId xmlns:p14="http://schemas.microsoft.com/office/powerpoint/2010/main" val="176475650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521208" y="1094232"/>
            <a:ext cx="6876288" cy="640080"/>
          </a:xfrm>
        </p:spPr>
        <p:txBody>
          <a:bodyPr>
            <a:normAutofit/>
          </a:bodyPr>
          <a:lstStyle/>
          <a:p>
            <a:r>
              <a:rPr lang="en-IN" sz="2800" dirty="0"/>
              <a:t>Price Elasticity &amp; Demand Forecasting</a:t>
            </a:r>
            <a:endParaRPr lang="en-US" sz="2800" dirty="0">
              <a:latin typeface="Segoe UI Light" panose="020B0502040204020203" pitchFamily="34" charset="0"/>
              <a:cs typeface="Segoe UI Light" panose="020B0502040204020203" pitchFamily="34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AFA44F3-8AD7-75B1-5595-02558EC1B7B1}"/>
              </a:ext>
            </a:extLst>
          </p:cNvPr>
          <p:cNvSpPr txBox="1"/>
          <p:nvPr/>
        </p:nvSpPr>
        <p:spPr>
          <a:xfrm>
            <a:off x="521208" y="2573953"/>
            <a:ext cx="6126480" cy="372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GB" sz="2000" b="1" dirty="0"/>
              <a:t>Price Elasticity Insights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GB" sz="2000" dirty="0"/>
              <a:t>High-demand Classes Showed Lower Price Sensitivity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GB" sz="2000" dirty="0"/>
              <a:t>Premium Pricing Opportunities Identified</a:t>
            </a:r>
          </a:p>
          <a:p>
            <a:pPr>
              <a:lnSpc>
                <a:spcPct val="150000"/>
              </a:lnSpc>
            </a:pPr>
            <a:r>
              <a:rPr lang="en-GB" sz="2000" b="1" dirty="0"/>
              <a:t>Demand Forecasting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GB" sz="2000" dirty="0"/>
              <a:t>ARIMA Model Used For Future Demand Prediction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GB" sz="2000" dirty="0"/>
              <a:t>Forecasting Supports Proactive Pricing Decisions</a:t>
            </a:r>
          </a:p>
        </p:txBody>
      </p:sp>
      <p:pic>
        <p:nvPicPr>
          <p:cNvPr id="4098" name="Picture 2">
            <a:extLst>
              <a:ext uri="{FF2B5EF4-FFF2-40B4-BE49-F238E27FC236}">
                <a16:creationId xmlns:a16="http://schemas.microsoft.com/office/drawing/2014/main" id="{BB78782B-A123-CED6-2378-97B41563D73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47472" y="2424113"/>
            <a:ext cx="4967288" cy="35956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93025881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drape"/>
      </p:transition>
    </mc:Choice>
    <mc:Fallback xmlns="">
      <p:transition xmlns:p14="http://schemas.microsoft.com/office/powerpoint/2010/main"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F083D2B2-24CC-41A1-8AC3-EDF2DA2C3A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High-Demand Analysis</a:t>
            </a:r>
            <a:endParaRPr lang="en-US" dirty="0"/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0E85CDB0-AD30-4DBB-AC55-D824F09CE20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45273" y="1666303"/>
            <a:ext cx="10677249" cy="3865818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GB" sz="2000" b="1" dirty="0">
                <a:latin typeface="+mj-lt"/>
              </a:rPr>
              <a:t>Key findings</a:t>
            </a:r>
          </a:p>
          <a:p>
            <a:pPr marL="342900" indent="-342900"/>
            <a:r>
              <a:rPr lang="en-GB" sz="2000" dirty="0">
                <a:latin typeface="+mj-lt"/>
              </a:rPr>
              <a:t>Weekends and evening sessions showed higher occupancy</a:t>
            </a:r>
          </a:p>
          <a:p>
            <a:pPr marL="285750" indent="-285750"/>
            <a:r>
              <a:rPr lang="en-GB" sz="1800" dirty="0">
                <a:latin typeface="+mj-lt"/>
              </a:rPr>
              <a:t>Recurring</a:t>
            </a:r>
            <a:r>
              <a:rPr lang="en-GB" sz="2000" dirty="0">
                <a:latin typeface="+mj-lt"/>
              </a:rPr>
              <a:t> booking patterns identified</a:t>
            </a:r>
          </a:p>
          <a:p>
            <a:pPr marL="342900" indent="-342900"/>
            <a:r>
              <a:rPr lang="en-GB" sz="2000" dirty="0">
                <a:latin typeface="+mj-lt"/>
              </a:rPr>
              <a:t>Specific classes generated consistently high demand</a:t>
            </a:r>
          </a:p>
          <a:p>
            <a:pPr>
              <a:buNone/>
            </a:pPr>
            <a:r>
              <a:rPr lang="en-GB" sz="2000" b="1" dirty="0">
                <a:latin typeface="+mj-lt"/>
              </a:rPr>
              <a:t>Business opportunity</a:t>
            </a:r>
          </a:p>
          <a:p>
            <a:pPr>
              <a:buNone/>
            </a:pPr>
            <a:r>
              <a:rPr lang="en-GB" sz="2000" dirty="0">
                <a:latin typeface="+mj-lt"/>
              </a:rPr>
              <a:t>Apply premium pricing during peak demand periods.</a:t>
            </a:r>
          </a:p>
        </p:txBody>
      </p:sp>
    </p:spTree>
    <p:extLst>
      <p:ext uri="{BB962C8B-B14F-4D97-AF65-F5344CB8AC3E}">
        <p14:creationId xmlns:p14="http://schemas.microsoft.com/office/powerpoint/2010/main" val="258449520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F083D2B2-24CC-41A1-8AC3-EDF2DA2C3A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Dynamic Pricing Strategy</a:t>
            </a:r>
            <a:endParaRPr lang="en-US" dirty="0"/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8DD5C05F-CCCA-1066-79FA-89430E39356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02055005"/>
              </p:ext>
            </p:extLst>
          </p:nvPr>
        </p:nvGraphicFramePr>
        <p:xfrm>
          <a:off x="1478280" y="1813984"/>
          <a:ext cx="10109286" cy="3664428"/>
        </p:xfrm>
        <a:graphic>
          <a:graphicData uri="http://schemas.openxmlformats.org/drawingml/2006/table">
            <a:tbl>
              <a:tblPr>
                <a:tableStyleId>{3C2FFA5D-87B4-456A-9821-1D502468CF0F}</a:tableStyleId>
              </a:tblPr>
              <a:tblGrid>
                <a:gridCol w="3369762">
                  <a:extLst>
                    <a:ext uri="{9D8B030D-6E8A-4147-A177-3AD203B41FA5}">
                      <a16:colId xmlns:a16="http://schemas.microsoft.com/office/drawing/2014/main" val="4120336228"/>
                    </a:ext>
                  </a:extLst>
                </a:gridCol>
                <a:gridCol w="3369762">
                  <a:extLst>
                    <a:ext uri="{9D8B030D-6E8A-4147-A177-3AD203B41FA5}">
                      <a16:colId xmlns:a16="http://schemas.microsoft.com/office/drawing/2014/main" val="1156272672"/>
                    </a:ext>
                  </a:extLst>
                </a:gridCol>
                <a:gridCol w="3369762">
                  <a:extLst>
                    <a:ext uri="{9D8B030D-6E8A-4147-A177-3AD203B41FA5}">
                      <a16:colId xmlns:a16="http://schemas.microsoft.com/office/drawing/2014/main" val="1495972050"/>
                    </a:ext>
                  </a:extLst>
                </a:gridCol>
              </a:tblGrid>
              <a:tr h="916107">
                <a:tc>
                  <a:txBody>
                    <a:bodyPr/>
                    <a:lstStyle/>
                    <a:p>
                      <a:r>
                        <a:rPr lang="en-IN" b="1" dirty="0"/>
                        <a:t>Demand Level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b="1" dirty="0"/>
                        <a:t>Occupancy Rate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b="1" dirty="0"/>
                        <a:t>Pricing Action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33916773"/>
                  </a:ext>
                </a:extLst>
              </a:tr>
              <a:tr h="916107">
                <a:tc>
                  <a:txBody>
                    <a:bodyPr/>
                    <a:lstStyle/>
                    <a:p>
                      <a:r>
                        <a:rPr lang="en-IN" dirty="0"/>
                        <a:t>High Demand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/>
                        <a:t>&gt;= 80%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/>
                        <a:t>+20% Price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83867061"/>
                  </a:ext>
                </a:extLst>
              </a:tr>
              <a:tr h="916107">
                <a:tc>
                  <a:txBody>
                    <a:bodyPr/>
                    <a:lstStyle/>
                    <a:p>
                      <a:r>
                        <a:rPr lang="en-IN"/>
                        <a:t>Medium Demand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50% - 79%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+10% Price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39277882"/>
                  </a:ext>
                </a:extLst>
              </a:tr>
              <a:tr h="916107">
                <a:tc>
                  <a:txBody>
                    <a:bodyPr/>
                    <a:lstStyle/>
                    <a:p>
                      <a:r>
                        <a:rPr lang="en-IN"/>
                        <a:t>Low Demand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/>
                        <a:t>&lt; 50%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-10% Price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56494060"/>
                  </a:ext>
                </a:extLst>
              </a:tr>
            </a:tbl>
          </a:graphicData>
        </a:graphic>
      </p:graphicFrame>
      <p:sp>
        <p:nvSpPr>
          <p:cNvPr id="9" name="Rectangle 2">
            <a:extLst>
              <a:ext uri="{FF2B5EF4-FFF2-40B4-BE49-F238E27FC236}">
                <a16:creationId xmlns:a16="http://schemas.microsoft.com/office/drawing/2014/main" id="{59859A72-42A1-B497-000D-B20014584F98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8200" y="1379588"/>
            <a:ext cx="3368040" cy="8925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Pricing Logic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3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73D2905-D266-8B2E-F14B-9D32FE553ABA}"/>
              </a:ext>
            </a:extLst>
          </p:cNvPr>
          <p:cNvSpPr txBox="1"/>
          <p:nvPr/>
        </p:nvSpPr>
        <p:spPr>
          <a:xfrm>
            <a:off x="838200" y="5589642"/>
            <a:ext cx="105156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b="1" dirty="0"/>
              <a:t>Goal</a:t>
            </a:r>
          </a:p>
          <a:p>
            <a:r>
              <a:rPr lang="en-GB" dirty="0"/>
              <a:t>Optimize pricing dynamically based on occupancy and booking demand.</a:t>
            </a:r>
          </a:p>
        </p:txBody>
      </p:sp>
    </p:spTree>
    <p:extLst>
      <p:ext uri="{BB962C8B-B14F-4D97-AF65-F5344CB8AC3E}">
        <p14:creationId xmlns:p14="http://schemas.microsoft.com/office/powerpoint/2010/main" val="354392036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F083D2B2-24CC-41A1-8AC3-EDF2DA2C3A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Revenue Optimization &amp; Recommendations</a:t>
            </a:r>
            <a:endParaRPr lang="en-US" dirty="0"/>
          </a:p>
        </p:txBody>
      </p:sp>
      <p:sp>
        <p:nvSpPr>
          <p:cNvPr id="9" name="Rectangle 2">
            <a:extLst>
              <a:ext uri="{FF2B5EF4-FFF2-40B4-BE49-F238E27FC236}">
                <a16:creationId xmlns:a16="http://schemas.microsoft.com/office/drawing/2014/main" id="{59859A72-42A1-B497-000D-B20014584F98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6354" y="1147395"/>
            <a:ext cx="5369646" cy="28049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150000"/>
              </a:lnSpc>
            </a:pPr>
            <a:r>
              <a:rPr lang="en-GB" sz="2000" b="1" dirty="0"/>
              <a:t>Revenue Impact</a:t>
            </a:r>
          </a:p>
          <a:p>
            <a:pPr>
              <a:lnSpc>
                <a:spcPct val="150000"/>
              </a:lnSpc>
            </a:pPr>
            <a:r>
              <a:rPr lang="en-GB" sz="2000" dirty="0"/>
              <a:t>Dynamic pricing demonstrated the potential to: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GB" sz="2000" dirty="0"/>
              <a:t>Improve Revenue Per Class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GB" sz="2000" dirty="0"/>
              <a:t>Increase Total Company Revenue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GB" sz="2000" dirty="0"/>
              <a:t>Improve Occupancy Utilization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1F713B2-B374-CCDD-E150-91A921BE30AA}"/>
              </a:ext>
            </a:extLst>
          </p:cNvPr>
          <p:cNvSpPr txBox="1"/>
          <p:nvPr/>
        </p:nvSpPr>
        <p:spPr>
          <a:xfrm>
            <a:off x="726353" y="4271046"/>
            <a:ext cx="7625166" cy="17488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GB" sz="2000" b="1" dirty="0"/>
              <a:t>Recommendations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GB" dirty="0"/>
              <a:t>Implement Occupancy-based Pricing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GB" dirty="0"/>
              <a:t>Optimize Instructor Scheduling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GB" dirty="0"/>
              <a:t>Monitor Booking Trends Continuously</a:t>
            </a:r>
          </a:p>
        </p:txBody>
      </p:sp>
      <p:pic>
        <p:nvPicPr>
          <p:cNvPr id="7170" name="Picture 2">
            <a:extLst>
              <a:ext uri="{FF2B5EF4-FFF2-40B4-BE49-F238E27FC236}">
                <a16:creationId xmlns:a16="http://schemas.microsoft.com/office/drawing/2014/main" id="{CF5208F6-16AD-130D-0F97-98BA774CF28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1" y="1580398"/>
            <a:ext cx="5369646" cy="46375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3900029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F083D2B2-24CC-41A1-8AC3-EDF2DA2C3A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Conclusion</a:t>
            </a:r>
            <a:endParaRPr lang="en-US" dirty="0"/>
          </a:p>
        </p:txBody>
      </p:sp>
      <p:sp>
        <p:nvSpPr>
          <p:cNvPr id="9" name="Rectangle 2">
            <a:extLst>
              <a:ext uri="{FF2B5EF4-FFF2-40B4-BE49-F238E27FC236}">
                <a16:creationId xmlns:a16="http://schemas.microsoft.com/office/drawing/2014/main" id="{59859A72-42A1-B497-000D-B20014584F9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4434" y="1695566"/>
            <a:ext cx="10983132" cy="36898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200000"/>
              </a:lnSpc>
            </a:pPr>
            <a:r>
              <a:rPr lang="en-GB" sz="2000" dirty="0"/>
              <a:t>This project demonstrated how analytics and forecasting can support:</a:t>
            </a:r>
          </a:p>
          <a:p>
            <a:pPr marL="457200" indent="-457200">
              <a:lnSpc>
                <a:spcPct val="200000"/>
              </a:lnSpc>
              <a:buFont typeface="+mj-lt"/>
              <a:buAutoNum type="arabicPeriod"/>
            </a:pPr>
            <a:r>
              <a:rPr lang="en-GB" sz="2000" dirty="0"/>
              <a:t>Dynamic Pricing Optimization</a:t>
            </a:r>
          </a:p>
          <a:p>
            <a:pPr marL="457200" indent="-457200">
              <a:lnSpc>
                <a:spcPct val="200000"/>
              </a:lnSpc>
              <a:buFont typeface="+mj-lt"/>
              <a:buAutoNum type="arabicPeriod"/>
            </a:pPr>
            <a:r>
              <a:rPr lang="en-GB" sz="2000" dirty="0"/>
              <a:t>Demand Forecasting</a:t>
            </a:r>
          </a:p>
          <a:p>
            <a:pPr marL="457200" indent="-457200">
              <a:lnSpc>
                <a:spcPct val="200000"/>
              </a:lnSpc>
              <a:buFont typeface="+mj-lt"/>
              <a:buAutoNum type="arabicPeriod"/>
            </a:pPr>
            <a:r>
              <a:rPr lang="en-GB" sz="2000" dirty="0"/>
              <a:t>Revenue Growth</a:t>
            </a:r>
          </a:p>
          <a:p>
            <a:pPr marL="457200" indent="-457200">
              <a:lnSpc>
                <a:spcPct val="200000"/>
              </a:lnSpc>
              <a:buFont typeface="+mj-lt"/>
              <a:buAutoNum type="arabicPeriod"/>
            </a:pPr>
            <a:r>
              <a:rPr lang="en-GB" sz="2000" dirty="0"/>
              <a:t>Operational Efficiency</a:t>
            </a:r>
          </a:p>
          <a:p>
            <a:pPr>
              <a:lnSpc>
                <a:spcPct val="200000"/>
              </a:lnSpc>
            </a:pPr>
            <a:r>
              <a:rPr lang="en-GB" sz="2000" dirty="0"/>
              <a:t>The proposed solution provides a scalable framework for business optimization.</a:t>
            </a:r>
          </a:p>
        </p:txBody>
      </p:sp>
    </p:spTree>
    <p:extLst>
      <p:ext uri="{BB962C8B-B14F-4D97-AF65-F5344CB8AC3E}">
        <p14:creationId xmlns:p14="http://schemas.microsoft.com/office/powerpoint/2010/main" val="446470468"/>
      </p:ext>
    </p:extLst>
  </p:cSld>
  <p:clrMapOvr>
    <a:masterClrMapping/>
  </p:clrMapOvr>
</p:sld>
</file>

<file path=ppt/theme/theme1.xml><?xml version="1.0" encoding="utf-8"?>
<a:theme xmlns:a="http://schemas.openxmlformats.org/drawingml/2006/main" name="Get Started with 3D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Segoe UI">
      <a:majorFont>
        <a:latin typeface="Segoe UI Light"/>
        <a:ea typeface=""/>
        <a:cs typeface=""/>
      </a:majorFont>
      <a:minorFont>
        <a:latin typeface="Segoe U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/>
      <a:bodyPr vert="horz" lIns="91440" tIns="45720" rIns="91440" bIns="45720" rtlCol="0">
        <a:noAutofit/>
      </a:bodyPr>
      <a:lstStyle>
        <a:defPPr marL="0" indent="0" algn="l">
          <a:lnSpc>
            <a:spcPts val="1800"/>
          </a:lnSpc>
          <a:spcAft>
            <a:spcPts val="600"/>
          </a:spcAft>
          <a:buNone/>
          <a:defRPr sz="1200" dirty="0" smtClean="0">
            <a:solidFill>
              <a:prstClr val="black">
                <a:lumMod val="75000"/>
                <a:lumOff val="25000"/>
              </a:prstClr>
            </a:solidFill>
            <a:latin typeface="Segoe UI" panose="020B0502040204020203" pitchFamily="34" charset="0"/>
            <a:cs typeface="Segoe UI" panose="020B0502040204020203" pitchFamily="34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tf16411177_win32_fixed.potx" id="{2BE36628-40A7-4124-9B03-283680FDB08B}" vid="{1F788C18-5B90-4886-BC26-C8416480C9D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48</TotalTime>
  <Words>301</Words>
  <Application>Microsoft Office PowerPoint</Application>
  <PresentationFormat>Widescreen</PresentationFormat>
  <Paragraphs>85</Paragraphs>
  <Slides>10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6" baseType="lpstr">
      <vt:lpstr>Arial</vt:lpstr>
      <vt:lpstr>Calibri</vt:lpstr>
      <vt:lpstr>Segoe UI</vt:lpstr>
      <vt:lpstr>Segoe UI Light</vt:lpstr>
      <vt:lpstr>Segoe UI Semibold</vt:lpstr>
      <vt:lpstr>Get Started with 3D</vt:lpstr>
      <vt:lpstr>Dynamic Pricing &amp; Demand Forecasting for Fitness Classes</vt:lpstr>
      <vt:lpstr>Project Overview &amp; Business Problem</vt:lpstr>
      <vt:lpstr>Data Cleaning &amp; Preparation</vt:lpstr>
      <vt:lpstr>Exploratory Data Analysis (EDA)</vt:lpstr>
      <vt:lpstr>Charts</vt:lpstr>
      <vt:lpstr>Price Elasticity &amp; Demand Forecasting</vt:lpstr>
      <vt:lpstr>High-Demand Analysis</vt:lpstr>
      <vt:lpstr>Dynamic Pricing Strategy</vt:lpstr>
      <vt:lpstr>Revenue Optimization &amp; Recommendations</vt:lpstr>
      <vt:lpstr>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tejaswini y</dc:creator>
  <cp:lastModifiedBy>tejaswini y</cp:lastModifiedBy>
  <cp:revision>2</cp:revision>
  <dcterms:created xsi:type="dcterms:W3CDTF">2026-05-09T13:58:47Z</dcterms:created>
  <dcterms:modified xsi:type="dcterms:W3CDTF">2026-05-09T14:47:41Z</dcterms:modified>
</cp:coreProperties>
</file>